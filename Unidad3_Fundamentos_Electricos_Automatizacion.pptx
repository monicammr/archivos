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Unidad 3</a:t>
            </a:r>
          </a:p>
          <a:p>
            <a:pPr>
              <a:defRPr sz="1600">
                <a:solidFill>
                  <a:srgbClr val="AAAAAA"/>
                </a:solidFill>
              </a:defRPr>
            </a:pPr>
            <a:r>
              <a:t>Fundamentos eléctricos para automatización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25 diapositivas · Elementos de tableros de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463040"/>
            <a:ext cx="109728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Q</a:t>
            </a:r>
            <a:br/>
            <a:r>
              <a:t>Disyuntor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1097280" cy="6400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</a:t>
            </a:r>
            <a:br/>
            <a:r>
              <a:t>Contactor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463040"/>
            <a:ext cx="109728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</a:t>
            </a:r>
            <a:br/>
            <a:r>
              <a:t>Pulsador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377440"/>
            <a:ext cx="1097280" cy="6400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H</a:t>
            </a:r>
            <a:br/>
            <a:r>
              <a:t>Lámpara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377440"/>
            <a:ext cx="1097280" cy="6400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M</a:t>
            </a:r>
            <a:br/>
            <a:r>
              <a:t>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377440"/>
            <a:ext cx="1097280" cy="6400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24V</a:t>
            </a:r>
            <a:br/>
            <a:r>
              <a:t>Fuente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Objetivo de la unidad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09728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Dominar los elementos eléctricos básicos usados en tableros de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Comprender magnitudes eléctricas fundamentales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Identificar componentes de mando y potencia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Interpretar símbolos en esquemas eléctricos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Aplicar normas básicas de seguridad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Diseñar un circuito marcha/paro de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Contenidos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1. Voltaje, corriente y potencia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2. Contactores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3. Relés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4. Pulsadores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5. Selectores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6. Lámparas piloto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7. Guardamotores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8. Disyuntores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9. Fuentes 24 VDC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10. Normas de seguridad eléctrica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4572000" cy="3657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Tablero de control</a:t>
            </a:r>
            <a:br/>
            <a:br/>
            <a:r>
              <a:t>• Mando (24 VDC)</a:t>
            </a:r>
            <a:br/>
            <a:r>
              <a:t>• Potencia (220/380 VAC)</a:t>
            </a:r>
            <a:br/>
            <a:r>
              <a:t>• Protección</a:t>
            </a:r>
            <a:br/>
            <a:r>
              <a:t>• Señalización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Voltaje (V)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Diferencia de potencial entre dos puntos — la 'presión' eléctrica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Fórmula: V = W / Q  (Julios / Culombios)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Se mide con voltímetro en PARALELO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Unidad: Voltio (V)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En tableros: 24 VDC (mando), 110/220 VAC (potencia)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Fuente 24V ───→ Carga</a:t>
            </a:r>
            <a:br/>
            <a:br/>
            <a:r>
              <a:t>V = diferencia de potencial</a:t>
            </a:r>
            <a:br/>
            <a:r>
              <a:t>entre bornes + y 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Corriente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Flujo de carga eléctrica por un conductor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Fórmula: I = Q / t  →  Amperios (A)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Se mide con amperímetro en SERIE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Motor típico: 2–50 A según potencia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Circuito de mando: mA (relés, PLC)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e⁻ → → → →</a:t>
            </a:r>
            <a:br/>
            <a:br/>
            <a:r>
              <a:t>Amperímetro en serie</a:t>
            </a:r>
            <a:br/>
            <a:r>
              <a:t>Flujo de electrones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Potencia (P)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73152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P = V × I   (Watts = Voltios × Amperios)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Potencia = energía consumida por unidad de tiempo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Ejemplo: motor 1 kW @ 220V → I ≈ 4.5 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Importante para dimensionar cables, guardamotores y disyuntores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 mayor corriente (V constante), mayor potencia consumida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286000"/>
            <a:ext cx="4114800" cy="18288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Gráfica P vs I</a:t>
            </a:r>
            <a:br/>
            <a:r>
              <a:t>(recta creciente</a:t>
            </a:r>
            <a:br/>
            <a:r>
              <a:t>con V constante)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Corriente alterna (AC) vs continua (DC)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029200" cy="20116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AC — Alterna</a:t>
            </a:r>
            <a:br/>
            <a:r>
              <a:t>• 220 VAC red eléctrica</a:t>
            </a:r>
            <a:br/>
            <a:r>
              <a:t>• Motores trifásicos</a:t>
            </a:r>
            <a:br/>
            <a:r>
              <a:t>• Circuito de potencia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463040"/>
            <a:ext cx="5029200" cy="20116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DC — Continua</a:t>
            </a:r>
            <a:br/>
            <a:r>
              <a:t>• 24 VDC mando</a:t>
            </a:r>
            <a:br/>
            <a:r>
              <a:t>• PLC, relés, sensores</a:t>
            </a:r>
            <a:br/>
            <a:r>
              <a:t>• Circuito de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En automatización se usan AMBOS en el mismo tablero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La fuente 24 VDC convierte AC → DC para el 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Contactores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Interruptor electromagnético para cargas de alta corriente (motores)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Bobina de mando (24V o 110/220V)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Contactos principales NA → circuito de potencia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Contactos auxiliares NA/NC → señalización y enclavamiento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Símbolo: KM — actúa como puente entre mando y potencia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572000" cy="3200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CONTACTOR</a:t>
            </a:r>
            <a:br/>
            <a:br/>
            <a:r>
              <a:t>[B Bobina KM]</a:t>
            </a:r>
            <a:br/>
            <a:r>
              <a:t>── Contactos potencia (NA)</a:t>
            </a:r>
            <a:br/>
            <a:r>
              <a:t>── Contactos auxiliares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Relés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Interruptor electromagnético de BAJA corriente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Aísla circuito de mando del de potencia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Relé auxiliar: amplifica señal del PLC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Relé térmico: protección contra sobrecarga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Relé de interfaz: convierte 24V → 220V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Contactor = alta corriente | Relé = señalización y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Pulsadores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286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MARCHA</a:t>
            </a:r>
            <a:br/>
            <a:r>
              <a:t>(NA)</a:t>
            </a:r>
            <a:br/>
            <a:r>
              <a:t>Verde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2860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PARO</a:t>
            </a:r>
            <a:br/>
            <a:r>
              <a:t>(NC)</a:t>
            </a:r>
            <a:br/>
            <a:r>
              <a:t>Rojo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NA (Normalmente Abierto): cierra al presionar → MARCHA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NC (Normalmente Cerrado): abre al presionar → PARO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Retorno por muelle (monostables)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Instalados en panel frontal del tablero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Alimentados desde fuente 24 VDC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Selectores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Interruptor rotativo con varias posiciones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Ejemplo: 0-OFF | 1-MANUAL | 2-AUTOMÁTICO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Contactos NA/NC según posición seleccionada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Uso: cambiar entre control local y remoto (PLC)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Símbolo: círculo con flecha rotatoria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11480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Selector 3 posiciones</a:t>
            </a:r>
            <a:br/>
            <a:br/>
            <a:r>
              <a:t>    0</a:t>
            </a:r>
            <a:br/>
            <a:r>
              <a:t> MAN 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Lámparas piloto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8288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VERDE</a:t>
            </a:r>
            <a:br/>
            <a:r>
              <a:t>Marcha / 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463040"/>
            <a:ext cx="1828800" cy="10972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ROJO</a:t>
            </a:r>
            <a:br/>
            <a:r>
              <a:t>Paro / Falla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463040"/>
            <a:ext cx="1828800" cy="10972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AMARILLO</a:t>
            </a:r>
            <a:br/>
            <a:r>
              <a:t>Aviso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Indican estado del sistema al operador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Conectadas en paralelo con contactos auxiliares del contactor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Tensiones: 24V LED o 110/220V incandescentes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Señalización visual obligatoria en tableros industriales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Guardamotores (interruptores termomagnéticos)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Protegen motores contra SOBRECARGA y CORTOCIRCUITO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Elemento térmico: dispara por sobrecarga prolongada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Elemento magnético: dispara por cortocircuito instantáneo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Calibre ajustable según corriente nominal del motor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Se instalan en SERIE con cada motor (circuito de potencia)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029200"/>
            <a:ext cx="109728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Diferencia con disyuntor doméstico: curva de disparo adaptada a motores.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Disyuntores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Disyuntor GENERAL: protege todo el tablero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Interrumpe circuito ante sobrecorriente o cortocircuito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Capacidad de corte en kA (importante en industrial)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Curvas B, C, D según tipo de carga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Diferencial: detecta fugas a tierra (seguridad personal)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2011680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Disyuntor</a:t>
            </a:r>
            <a:br/>
            <a:r>
              <a:t>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645920"/>
            <a:ext cx="201168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Guardamotor</a:t>
            </a:r>
            <a:br/>
            <a:r>
              <a:t>por 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Fuentes de alimentación 24 VDC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Convierten red AC (110/220V) en 24 VDC para circuito de mando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Alimenta: PLC, sensores, bobinas 24V, lámparas LED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Estándar industrial internacional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Montaje en riel DIN dentro del tablero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Dimensionar: suma de consumos + 20% margen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Ej: relés + PLC + lámparas ≈ 1A → fuente de 2A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2011680"/>
            <a:ext cx="41148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220 VAC ──→ [ Fuente ] ──→ 24 VDC</a:t>
            </a:r>
            <a:br/>
            <a:r>
              <a:t>                    │</a:t>
            </a:r>
            <a:br/>
            <a:r>
              <a:t>            Pulsadores · PLC · Relés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Estructura de un tablero de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029200" cy="1645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CIRCUITO DE MANDO (24 VDC)</a:t>
            </a:r>
            <a:br/>
            <a:r>
              <a:t>Pulsadores · Selectores · Relés · PLC · Lámparas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5029200" cy="16459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CIRCUITO DE POTENCIA (220/380 VAC)</a:t>
            </a:r>
            <a:br/>
            <a:r>
              <a:t>Disyuntores · Contactores · Guardamotores · Motores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029200" cy="3474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PROTECCIONES</a:t>
            </a:r>
            <a:br/>
            <a:br/>
            <a:r>
              <a:t>• Disyuntor general</a:t>
            </a:r>
            <a:br/>
            <a:r>
              <a:t>• Guardamotores</a:t>
            </a:r>
            <a:br/>
            <a:r>
              <a:t>• Fusibles</a:t>
            </a:r>
            <a:br/>
            <a:r>
              <a:t>• Diferencial</a:t>
            </a:r>
            <a:br/>
            <a:r>
              <a:t>• Seguridad eléctrica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Normas básicas de seguridad eléctrica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Bloqueo y etiquetado (LOTO): aislar y señalar antes de intervenir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Desenergizar antes de tocar cualquier conductor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EPP: guantes dieléctricos, gafas, calzado de seguridad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Verificar ausencia de tensión con multímetro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Respetar secciones de cable según corriente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Conexión a tierra obligatoria de carcasas metálicas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NUNCA trabajar con tensión presente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Código de colores en cableado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Función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Uso típico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Amarillo/Verde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Tierra (PE)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Protección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Neutro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Retorno AC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Rojo/Marrón/Negro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Fase 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Alimentación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Blanco/Gris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Mando / señal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 VDC control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572000"/>
            <a:ext cx="109728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Normas de referencia: IEC 60204-1 (seguridad en máquinas), NFPA 79.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Símbolos eléctricos básicos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Símbolo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Bobina + contactos NA/NC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—|  |—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Contacto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Normalmente abierto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—|/|—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Contacto 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Normalmente cerrado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 en círculo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Carga trifásica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⊗ en rectángulo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Protección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⊗ en círculo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Lámpara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Señalización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Práctica sugerida: circuito marcha/paro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09728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Diseñar un circuito básico de MARCHA y PARO de motor con enclavamiento del contactor.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Función: encender y apagar un motor de forma segura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Elementos: pulsador marcha (NA), paro (NC), contactor KM, motor M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El contactor se mantiene energizado con su contacto auxiliar NA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El paro NC corta la alimentación de la bobina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4114800"/>
            <a:ext cx="9144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+24V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114800"/>
            <a:ext cx="9144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STOP</a:t>
            </a:r>
            <a:br/>
            <a:r>
              <a:t>(NC)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4114800"/>
            <a:ext cx="9144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START</a:t>
            </a:r>
            <a:br/>
            <a:r>
              <a:t>(NA)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4114800"/>
            <a:ext cx="9144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</a:t>
            </a:r>
            <a:br/>
            <a:r>
              <a:t>Bobina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029200"/>
            <a:ext cx="118872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 aux</a:t>
            </a:r>
            <a:br/>
            <a:r>
              <a:t>(enclav.)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Esquema de mando — Marcha/Paro (24 VDC)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645920"/>
            <a:ext cx="9144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+24V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9144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STOP</a:t>
            </a:r>
            <a:br/>
            <a:r>
              <a:t>(NC)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645920"/>
            <a:ext cx="9144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START</a:t>
            </a:r>
            <a:br/>
            <a:r>
              <a:t>(NA)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1645920"/>
            <a:ext cx="9144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</a:t>
            </a:r>
            <a:br/>
            <a:r>
              <a:t>Bobina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560320"/>
            <a:ext cx="118872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 aux</a:t>
            </a:r>
            <a:br/>
            <a:r>
              <a:t>(enclav.)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Cadena en serie: +24V → STOP(NC) → START(NA) → Bobina KM → 0V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Contacto auxiliar KM (NA) en paralelo con START → enclavamiento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Al soltar START, KM se mantiene energizado por su auxiliar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STOP abre la cadena → KM desenergiza → motor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Esquema de potencia — Marcha/Paro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645920"/>
            <a:ext cx="41148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L1 — L2 — L3  (380 VAC)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2286000"/>
            <a:ext cx="13716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Guardamotor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286000"/>
            <a:ext cx="13716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KM potencia</a:t>
            </a:r>
          </a:p>
        </p:txBody>
      </p:sp>
      <p:sp>
        <p:nvSpPr>
          <p:cNvPr id="6" name="Oval 5"/>
          <p:cNvSpPr/>
          <p:nvPr/>
        </p:nvSpPr>
        <p:spPr>
          <a:xfrm>
            <a:off x="10241280" y="2194560"/>
            <a:ext cx="822960" cy="822960"/>
          </a:xfrm>
          <a:prstGeom prst="ellipse">
            <a:avLst/>
          </a:prstGeom>
          <a:solidFill>
            <a:srgbClr val="FFF8E1"/>
          </a:solidFill>
          <a:ln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Cadena: Red (L1,L2,L3) → Guardamotor → Contactor KM → Motor M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El contactor de potencia conmuta la corriente alta del motor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El guardamotor protege contra sobrecarga y cortocircuito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Circuito de mando y potencia están separados pero coordinados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Secuencia de operación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1031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1. Pulsa</a:t>
            </a:r>
            <a:br/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463040"/>
            <a:ext cx="210312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2. KM</a:t>
            </a:r>
            <a:br/>
            <a:r>
              <a:t>energiza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463040"/>
            <a:ext cx="2103120" cy="8229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3. Motor</a:t>
            </a:r>
            <a:br/>
            <a:r>
              <a:t>gira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210312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4. KM aux</a:t>
            </a:r>
            <a:br/>
            <a:r>
              <a:t>mantiene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463040"/>
            <a:ext cx="2103120" cy="82296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222"/>
                </a:solidFill>
              </a:defRPr>
            </a:pPr>
            <a:r>
              <a:t>STOP →</a:t>
            </a:r>
            <a:br/>
            <a:r>
              <a:t>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Lámpara VERDE en paralelo con bobina KM → indica motor en marcha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Lámpara ROJA indica motor parado (contacto NC de KM)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Errores comunes en tableros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Consecuencia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 enclavamiento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Motor para al soltar START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Paro sin contacto 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hay paro de emergencia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Guardamotor mal calibre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Dispara o no protege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Mezclar mando y potencia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Ruido, fallas, peligro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 conexión a tierra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Riesgo de electrocución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029200"/>
            <a:ext cx="109728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222"/>
                </a:solidFill>
              </a:defRPr>
            </a:pPr>
            <a:r>
              <a:t>✓ Correcto: START + contacto auxiliar KM en paralelo (enclavamiento)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A800"/>
                </a:solidFill>
              </a:defRPr>
            </a:pPr>
            <a:r>
              <a:t>Resumen de la Unidad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Clave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V, I,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 = V × 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Conmuta potencia (motor)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Lógica y señalización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Pulsadores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 = marcha, NC = paro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Guardamotor + disyuntor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Fuente 24 VDC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Práctica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Marcha/paro con enclavamiento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Práctica: diseñar e implementar un circuito básico de marcha y paro de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